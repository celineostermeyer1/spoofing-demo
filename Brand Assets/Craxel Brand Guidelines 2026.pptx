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63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Relationship Id="rId14" Type="http://schemas.openxmlformats.org/officeDocument/2006/relationships/image" Target="../media/image3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6.jpe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14400"/>
            <a:ext cx="2095500" cy="11935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278240" y="914400"/>
            <a:ext cx="3153437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VERSION 2.0 · 2026</a:t>
            </a:r>
            <a:endParaRPr lang="en-US" sz="1650" dirty="0"/>
          </a:p>
        </p:txBody>
      </p:sp>
      <p:sp>
        <p:nvSpPr>
          <p:cNvPr id="5" name="Shape 1"/>
          <p:cNvSpPr/>
          <p:nvPr/>
        </p:nvSpPr>
        <p:spPr>
          <a:xfrm>
            <a:off x="1143000" y="3922977"/>
            <a:ext cx="133350" cy="1333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/>
          <p:nvPr/>
        </p:nvSpPr>
        <p:spPr>
          <a:xfrm>
            <a:off x="1409700" y="3841486"/>
            <a:ext cx="1859359" cy="334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CRAXEL 2.0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143000" y="4366419"/>
            <a:ext cx="17602200" cy="1943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4996"/>
              </a:lnSpc>
              <a:buNone/>
            </a:pPr>
            <a:r>
              <a:rPr lang="en-US" sz="15000" kern="0" spc="-825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Brand</a:t>
            </a:r>
            <a:endParaRPr lang="en-US" sz="15000" dirty="0"/>
          </a:p>
        </p:txBody>
      </p:sp>
      <p:sp>
        <p:nvSpPr>
          <p:cNvPr id="8" name="Text 4"/>
          <p:cNvSpPr/>
          <p:nvPr/>
        </p:nvSpPr>
        <p:spPr>
          <a:xfrm>
            <a:off x="1143000" y="6271419"/>
            <a:ext cx="17602200" cy="1943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4996"/>
              </a:lnSpc>
              <a:buNone/>
            </a:pPr>
            <a:r>
              <a:rPr lang="en-US" sz="15000" kern="0" spc="-825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guidelines</a:t>
            </a:r>
            <a:endParaRPr lang="en-US" sz="15000" dirty="0"/>
          </a:p>
        </p:txBody>
      </p:sp>
      <p:sp>
        <p:nvSpPr>
          <p:cNvPr id="9" name="Text 5"/>
          <p:cNvSpPr/>
          <p:nvPr/>
        </p:nvSpPr>
        <p:spPr>
          <a:xfrm>
            <a:off x="1143000" y="8519319"/>
            <a:ext cx="882967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3395"/>
              </a:lnSpc>
              <a:buNone/>
            </a:pPr>
            <a:r>
              <a:rPr lang="en-US" sz="2400" dirty="0">
                <a:solidFill>
                  <a:srgbClr val="E6EC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Logo, colour, gradients, typography, buttons, iconography and imagery.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1143000" cy="6510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893514" y="1100138"/>
            <a:ext cx="32768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143000" y="2181357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371600" y="2098807"/>
            <a:ext cx="135030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CONTENTS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43000" y="2696633"/>
            <a:ext cx="16002000" cy="9525"/>
          </a:xfrm>
          <a:prstGeom prst="rect">
            <a:avLst/>
          </a:prstGeom>
          <a:solidFill>
            <a:srgbClr val="080B1A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143000" y="3325283"/>
            <a:ext cx="12192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86000" y="2952750"/>
            <a:ext cx="10925225" cy="867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kern="0" spc="-117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Logo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2893014" y="3325283"/>
            <a:ext cx="4677185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Versions · clear space · misuse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4030133"/>
            <a:ext cx="16002000" cy="9525"/>
          </a:xfrm>
          <a:prstGeom prst="rect">
            <a:avLst/>
          </a:prstGeom>
          <a:solidFill>
            <a:srgbClr val="080B1A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43000" y="4658783"/>
            <a:ext cx="12192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286000" y="4286250"/>
            <a:ext cx="11348993" cy="867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kern="0" spc="-117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Colour &amp; gradients</a:t>
            </a:r>
            <a:endParaRPr lang="en-US" sz="3900" dirty="0"/>
          </a:p>
        </p:txBody>
      </p:sp>
      <p:sp>
        <p:nvSpPr>
          <p:cNvPr id="13" name="Text 10"/>
          <p:cNvSpPr/>
          <p:nvPr/>
        </p:nvSpPr>
        <p:spPr>
          <a:xfrm>
            <a:off x="13304440" y="4658783"/>
            <a:ext cx="4224615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 core colours · 6 gradients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43000" y="5363634"/>
            <a:ext cx="16002000" cy="9525"/>
          </a:xfrm>
          <a:prstGeom prst="rect">
            <a:avLst/>
          </a:prstGeom>
          <a:solidFill>
            <a:srgbClr val="080B1A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143000" y="5992284"/>
            <a:ext cx="12192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286000" y="5619750"/>
            <a:ext cx="11772900" cy="867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kern="0" spc="-117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Typography</a:t>
            </a:r>
            <a:endParaRPr lang="en-US" sz="3900" dirty="0"/>
          </a:p>
        </p:txBody>
      </p:sp>
      <p:sp>
        <p:nvSpPr>
          <p:cNvPr id="17" name="Text 14"/>
          <p:cNvSpPr/>
          <p:nvPr/>
        </p:nvSpPr>
        <p:spPr>
          <a:xfrm>
            <a:off x="13716000" y="5992284"/>
            <a:ext cx="37719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Manrope · DM Mono · scale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43000" y="6697134"/>
            <a:ext cx="16002000" cy="9525"/>
          </a:xfrm>
          <a:prstGeom prst="rect">
            <a:avLst/>
          </a:prstGeom>
          <a:solidFill>
            <a:srgbClr val="080B1A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1143000" y="7325784"/>
            <a:ext cx="12192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286000" y="6953250"/>
            <a:ext cx="10783922" cy="867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kern="0" spc="-117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Components</a:t>
            </a:r>
            <a:endParaRPr lang="en-US" sz="3900" dirty="0"/>
          </a:p>
        </p:txBody>
      </p:sp>
      <p:sp>
        <p:nvSpPr>
          <p:cNvPr id="21" name="Text 18"/>
          <p:cNvSpPr/>
          <p:nvPr/>
        </p:nvSpPr>
        <p:spPr>
          <a:xfrm>
            <a:off x="12755827" y="7325784"/>
            <a:ext cx="482809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Buttons · surfaces · iconography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143000" y="9364134"/>
            <a:ext cx="16002000" cy="9525"/>
          </a:xfrm>
          <a:prstGeom prst="rect">
            <a:avLst/>
          </a:prstGeom>
          <a:solidFill>
            <a:srgbClr val="080B1A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143000" y="8030634"/>
            <a:ext cx="16002000" cy="9525"/>
          </a:xfrm>
          <a:prstGeom prst="rect">
            <a:avLst/>
          </a:prstGeom>
          <a:solidFill>
            <a:srgbClr val="080B1A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143000" y="8659284"/>
            <a:ext cx="12192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286000" y="8286750"/>
            <a:ext cx="12479274" cy="867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kern="0" spc="-117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Imagery</a:t>
            </a:r>
            <a:endParaRPr lang="en-US" sz="3900" dirty="0"/>
          </a:p>
        </p:txBody>
      </p:sp>
      <p:sp>
        <p:nvSpPr>
          <p:cNvPr id="26" name="Text 23"/>
          <p:cNvSpPr/>
          <p:nvPr/>
        </p:nvSpPr>
        <p:spPr>
          <a:xfrm>
            <a:off x="14401800" y="8659284"/>
            <a:ext cx="301752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Subjects · treatment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14400"/>
            <a:ext cx="1143000" cy="6510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373409"/>
            <a:ext cx="133350" cy="1333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/>
          <p:nvPr/>
        </p:nvSpPr>
        <p:spPr>
          <a:xfrm>
            <a:off x="1409700" y="7241117"/>
            <a:ext cx="2392759" cy="436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38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SECTION 01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143000" y="7829550"/>
            <a:ext cx="17602200" cy="158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2150"/>
              </a:lnSpc>
              <a:buNone/>
            </a:pPr>
            <a:r>
              <a:rPr lang="en-US" sz="13500" kern="0" spc="-743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Logo</a:t>
            </a:r>
            <a:endParaRPr lang="en-US" sz="1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24651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LOGO · VERSIONS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74800"/>
            <a:ext cx="17602200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ts val="5416"/>
              </a:lnSpc>
              <a:buNone/>
            </a:pPr>
            <a:r>
              <a:rPr lang="en-US" sz="5400" kern="0" spc="-216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Two versions. Always on a solid or scrimmed field.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794000"/>
            <a:ext cx="7848600" cy="6578600"/>
          </a:xfrm>
          <a:prstGeom prst="roundRect">
            <a:avLst>
              <a:gd name="adj" fmla="val 3475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967023"/>
            <a:ext cx="3429000" cy="19531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5900" y="8750300"/>
            <a:ext cx="318108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WHITE · ON NAVY &amp; PHOTO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008291" y="8750300"/>
            <a:ext cx="290445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craxel-logo-white.png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296400" y="2794000"/>
            <a:ext cx="7848600" cy="6578600"/>
          </a:xfrm>
          <a:prstGeom prst="roundRect">
            <a:avLst>
              <a:gd name="adj" fmla="val 3475"/>
            </a:avLst>
          </a:prstGeom>
          <a:ln w="8467">
            <a:solidFill>
              <a:srgbClr val="080B1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867" y="2802467"/>
            <a:ext cx="7831667" cy="6561667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6200" y="4967023"/>
            <a:ext cx="3429000" cy="19531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7767" y="8741833"/>
            <a:ext cx="290445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NAVY · ON WHITE &amp; ICE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4279033" y="8741833"/>
            <a:ext cx="276606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craxel-logo-navy.png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410089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LOGO · CLEAR SPACE &amp; SIZE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727200"/>
            <a:ext cx="8872273" cy="7645400"/>
          </a:xfrm>
          <a:prstGeom prst="roundRect">
            <a:avLst>
              <a:gd name="adj" fmla="val 2990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161903" y="3691070"/>
            <a:ext cx="4834467" cy="3358621"/>
          </a:xfrm>
          <a:prstGeom prst="rect">
            <a:avLst/>
          </a:prstGeom>
          <a:ln w="16933">
            <a:solidFill>
              <a:srgbClr val="2597D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36" y="4393803"/>
            <a:ext cx="3429000" cy="19531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78836" y="3708003"/>
            <a:ext cx="685800" cy="685800"/>
          </a:xfrm>
          <a:prstGeom prst="rect">
            <a:avLst/>
          </a:prstGeom>
          <a:solidFill>
            <a:srgbClr val="2597DA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140736" y="3708003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X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293637" y="6346957"/>
            <a:ext cx="685800" cy="685800"/>
          </a:xfrm>
          <a:prstGeom prst="rect">
            <a:avLst/>
          </a:prstGeom>
          <a:solidFill>
            <a:srgbClr val="2597DA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255537" y="6346957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X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4367" y="8662194"/>
            <a:ext cx="8986494" cy="397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842"/>
              </a:lnSpc>
              <a:buNone/>
            </a:pPr>
            <a:r>
              <a:rPr lang="en-US" sz="195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 = height of the “C” in the wordmark. Keep X clear on all four sides.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320074" y="1727200"/>
            <a:ext cx="6824927" cy="3670300"/>
          </a:xfrm>
          <a:prstGeom prst="roundRect">
            <a:avLst>
              <a:gd name="adj" fmla="val 6228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0671439" y="2078567"/>
            <a:ext cx="673441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MINIMUM SIZE</a:t>
            </a:r>
            <a:endParaRPr lang="en-US" sz="16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439" y="3584443"/>
            <a:ext cx="1143000" cy="65100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671439" y="4368800"/>
            <a:ext cx="12192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120 px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671439" y="4665133"/>
            <a:ext cx="1219200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7839" y="3692922"/>
            <a:ext cx="952500" cy="5425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7839" y="4368800"/>
            <a:ext cx="102870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 mm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2347839" y="4665133"/>
            <a:ext cx="1028700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Print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0320074" y="5702300"/>
            <a:ext cx="6824927" cy="3670300"/>
          </a:xfrm>
          <a:prstGeom prst="roundRect">
            <a:avLst>
              <a:gd name="adj" fmla="val 6228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10671439" y="6053667"/>
            <a:ext cx="673441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PLACEMENT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10671439" y="8247856"/>
            <a:ext cx="6305860" cy="811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3048"/>
              </a:lnSpc>
              <a:buNone/>
            </a:pPr>
            <a:r>
              <a:rPr lang="en-US" sz="210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Top-left on web, slides and reports. Centred only on covers, merch and the closing slide.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198741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LOGO · DON’T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727200"/>
            <a:ext cx="5156200" cy="3122083"/>
          </a:xfrm>
          <a:prstGeom prst="roundRect">
            <a:avLst>
              <a:gd name="adj" fmla="val 6102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0" y="2983442"/>
            <a:ext cx="2667000" cy="609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5151967"/>
            <a:ext cx="114300" cy="1143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0" y="5035550"/>
            <a:ext cx="2987646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Don’t stretch or squash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565900" y="1727200"/>
            <a:ext cx="5156200" cy="3122083"/>
          </a:xfrm>
          <a:prstGeom prst="roundRect">
            <a:avLst>
              <a:gd name="adj" fmla="val 6102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40000">
            <a:off x="8096250" y="2692929"/>
            <a:ext cx="2095501" cy="1190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65900" y="5151967"/>
            <a:ext cx="114300" cy="1143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794500" y="5035550"/>
            <a:ext cx="1563159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Don’t rotate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1988800" y="1727200"/>
            <a:ext cx="5156200" cy="3122083"/>
          </a:xfrm>
          <a:prstGeom prst="roundRect">
            <a:avLst>
              <a:gd name="adj" fmla="val 6102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9150" y="2691474"/>
            <a:ext cx="2095500" cy="11935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1988800" y="5151967"/>
            <a:ext cx="114300" cy="1143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12217400" y="5035550"/>
            <a:ext cx="1837929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Don’t recolour</a:t>
            </a:r>
            <a:endParaRPr lang="en-US" sz="1950" dirty="0"/>
          </a:p>
        </p:txBody>
      </p:sp>
      <p:sp>
        <p:nvSpPr>
          <p:cNvPr id="17" name="Shape 12"/>
          <p:cNvSpPr/>
          <p:nvPr/>
        </p:nvSpPr>
        <p:spPr>
          <a:xfrm>
            <a:off x="1143000" y="5683250"/>
            <a:ext cx="5156200" cy="3122083"/>
          </a:xfrm>
          <a:prstGeom prst="roundRect">
            <a:avLst>
              <a:gd name="adj" fmla="val 6102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350" y="6647524"/>
            <a:ext cx="2095500" cy="119353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143000" y="9108017"/>
            <a:ext cx="114300" cy="1143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1371600" y="8991600"/>
            <a:ext cx="3699743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Don’t add effects or shadows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6565900" y="5683250"/>
            <a:ext cx="5156200" cy="3122083"/>
          </a:xfrm>
          <a:prstGeom prst="roundRect">
            <a:avLst>
              <a:gd name="adj" fmla="val 6102"/>
            </a:avLst>
          </a:prstGeom>
          <a:solidFill>
            <a:srgbClr val="38B6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6647524"/>
            <a:ext cx="2095500" cy="119353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565900" y="9108017"/>
            <a:ext cx="114300" cy="1143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6794500" y="8991600"/>
            <a:ext cx="4036443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Don’t use on low-contrast fields</a:t>
            </a:r>
            <a:endParaRPr lang="en-US" sz="1950" dirty="0"/>
          </a:p>
        </p:txBody>
      </p:sp>
      <p:sp>
        <p:nvSpPr>
          <p:cNvPr id="25" name="Shape 18"/>
          <p:cNvSpPr/>
          <p:nvPr/>
        </p:nvSpPr>
        <p:spPr>
          <a:xfrm>
            <a:off x="11988800" y="5683250"/>
            <a:ext cx="5156200" cy="3122083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 l="3551" r="3551"/>
          <a:stretch/>
        </p:blipFill>
        <p:spPr>
          <a:xfrm>
            <a:off x="11988800" y="5683250"/>
            <a:ext cx="5156200" cy="3122083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150" y="6647524"/>
            <a:ext cx="2095500" cy="119353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11988800" y="9108017"/>
            <a:ext cx="114300" cy="1143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0"/>
          <p:cNvSpPr/>
          <p:nvPr/>
        </p:nvSpPr>
        <p:spPr>
          <a:xfrm>
            <a:off x="12217400" y="8991600"/>
            <a:ext cx="4767616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Don’t place on photos without a scrim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14400"/>
            <a:ext cx="1143000" cy="6510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5487459"/>
            <a:ext cx="133350" cy="1333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/>
          <p:nvPr/>
        </p:nvSpPr>
        <p:spPr>
          <a:xfrm>
            <a:off x="1409700" y="5355167"/>
            <a:ext cx="2392759" cy="436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38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SECTION 02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143000" y="5943600"/>
            <a:ext cx="17602200" cy="175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3500"/>
              </a:lnSpc>
              <a:buNone/>
            </a:pPr>
            <a:r>
              <a:rPr lang="en-US" sz="13500" kern="0" spc="-743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Colour &amp;</a:t>
            </a:r>
            <a:endParaRPr lang="en-US" sz="13500" dirty="0"/>
          </a:p>
        </p:txBody>
      </p:sp>
      <p:sp>
        <p:nvSpPr>
          <p:cNvPr id="7" name="Text 3"/>
          <p:cNvSpPr/>
          <p:nvPr/>
        </p:nvSpPr>
        <p:spPr>
          <a:xfrm>
            <a:off x="1143000" y="7658100"/>
            <a:ext cx="17602200" cy="175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3500"/>
              </a:lnSpc>
              <a:buNone/>
            </a:pPr>
            <a:r>
              <a:rPr lang="en-US" sz="13500" kern="0" spc="-743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gradients</a:t>
            </a:r>
            <a:endParaRPr lang="en-US" sz="13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3444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COLOUR · CORE PALETTE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74800"/>
            <a:ext cx="17602200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ts val="5416"/>
              </a:lnSpc>
              <a:buNone/>
            </a:pPr>
            <a:r>
              <a:rPr lang="en-US" sz="5400" kern="0" spc="-216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Navy leads. Blue acts. Coral alerts.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794000"/>
            <a:ext cx="3934487" cy="6578600"/>
          </a:xfrm>
          <a:prstGeom prst="roundRect">
            <a:avLst>
              <a:gd name="adj" fmla="val 4842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71600" y="8022167"/>
            <a:ext cx="3581605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Navy 900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8528050"/>
            <a:ext cx="38250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71600" y="8864600"/>
            <a:ext cx="38250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RGB 8 11 26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10837" y="2794000"/>
            <a:ext cx="2146168" cy="6578600"/>
          </a:xfrm>
          <a:prstGeom prst="roundRect">
            <a:avLst>
              <a:gd name="adj" fmla="val 8876"/>
            </a:avLst>
          </a:prstGeom>
          <a:solidFill>
            <a:srgbClr val="4B5A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39437" y="8022167"/>
            <a:ext cx="1765168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Slate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39437" y="8528050"/>
            <a:ext cx="185786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#4B5A7A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39437" y="8864600"/>
            <a:ext cx="185786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75 90 122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490354" y="2794000"/>
            <a:ext cx="2146168" cy="6578600"/>
          </a:xfrm>
          <a:prstGeom prst="roundRect">
            <a:avLst>
              <a:gd name="adj" fmla="val 8876"/>
            </a:avLst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18954" y="8022167"/>
            <a:ext cx="1765168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Blue 600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18954" y="8528050"/>
            <a:ext cx="185786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#2597DA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18954" y="8864600"/>
            <a:ext cx="185786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37 151 218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769872" y="2794000"/>
            <a:ext cx="1788451" cy="6578600"/>
          </a:xfrm>
          <a:prstGeom prst="roundRect">
            <a:avLst>
              <a:gd name="adj" fmla="val 10652"/>
            </a:avLst>
          </a:prstGeom>
          <a:solidFill>
            <a:srgbClr val="38B6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998472" y="8022167"/>
            <a:ext cx="1407451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Blue 400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998472" y="8528050"/>
            <a:ext cx="146437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98472" y="8864600"/>
            <a:ext cx="146437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56 182 255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691674" y="2794000"/>
            <a:ext cx="1788451" cy="6578600"/>
          </a:xfrm>
          <a:prstGeom prst="roundRect">
            <a:avLst>
              <a:gd name="adj" fmla="val 10652"/>
            </a:avLst>
          </a:prstGeom>
          <a:solidFill>
            <a:srgbClr val="DC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1920274" y="7742767"/>
            <a:ext cx="1407451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Mist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920274" y="8248650"/>
            <a:ext cx="146437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#DCE8F0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920274" y="8585200"/>
            <a:ext cx="1407451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220 232 240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613474" y="2794000"/>
            <a:ext cx="1788451" cy="6578600"/>
          </a:xfrm>
          <a:prstGeom prst="roundRect">
            <a:avLst>
              <a:gd name="adj" fmla="val 10652"/>
            </a:avLst>
          </a:prstGeom>
          <a:solidFill>
            <a:srgbClr val="D9EC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3842074" y="7742767"/>
            <a:ext cx="1407451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Ice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842074" y="8248650"/>
            <a:ext cx="146437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#D9ECFA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842074" y="8585200"/>
            <a:ext cx="1407451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217 236 250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535275" y="2794000"/>
            <a:ext cx="1609725" cy="6578600"/>
          </a:xfrm>
          <a:prstGeom prst="roundRect">
            <a:avLst>
              <a:gd name="adj" fmla="val 11834"/>
            </a:avLst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5763875" y="7742767"/>
            <a:ext cx="1228725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Coral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5763875" y="8248650"/>
            <a:ext cx="122872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#E5646A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5763875" y="8585200"/>
            <a:ext cx="1228725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229 100 106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230584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COLOUR · USAGE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51000"/>
            <a:ext cx="1760220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PROPORTION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3000" y="2101850"/>
            <a:ext cx="16002000" cy="1159933"/>
          </a:xfrm>
          <a:prstGeom prst="roundRect">
            <a:avLst>
              <a:gd name="adj" fmla="val 13139"/>
            </a:avLst>
          </a:prstGeom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151467" y="2110317"/>
            <a:ext cx="8654653" cy="1143000"/>
          </a:xfrm>
          <a:prstGeom prst="rect">
            <a:avLst/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18167" y="2110317"/>
            <a:ext cx="838089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NAVY 55%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06120" y="2110317"/>
            <a:ext cx="4072467" cy="1143000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996620" y="2110317"/>
            <a:ext cx="381364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MIST · ICE · WHITE 25%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878587" y="2110317"/>
            <a:ext cx="1781440" cy="1143000"/>
          </a:xfrm>
          <a:prstGeom prst="rect">
            <a:avLst/>
          </a:prstGeom>
          <a:solidFill>
            <a:srgbClr val="4B5A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030987" y="2110317"/>
            <a:ext cx="15528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SLATE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660027" y="2110317"/>
            <a:ext cx="1181232" cy="11430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6841258" y="2110317"/>
            <a:ext cx="295275" cy="1143000"/>
          </a:xfrm>
          <a:prstGeom prst="rect">
            <a:avLst/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143000" y="3718983"/>
            <a:ext cx="5156200" cy="5653617"/>
          </a:xfrm>
          <a:prstGeom prst="roundRect">
            <a:avLst>
              <a:gd name="adj" fmla="val 3695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456267" y="4032250"/>
            <a:ext cx="498263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TEXT ON LIGHT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456267" y="451696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89667" y="4525433"/>
            <a:ext cx="3671265" cy="40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Navy 900 · headings, body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456267" y="51371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B5A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989667" y="5145617"/>
            <a:ext cx="2450174" cy="4021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Slate · secondary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565900" y="3718983"/>
            <a:ext cx="5156200" cy="5653617"/>
          </a:xfrm>
          <a:prstGeom prst="roundRect">
            <a:avLst>
              <a:gd name="adj" fmla="val 3695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70700" y="4023783"/>
            <a:ext cx="500126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TEXT ON NAVY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870700" y="4508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404100" y="4516967"/>
            <a:ext cx="3200348" cy="4021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White · headings, body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870700" y="512868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8D3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404100" y="5137150"/>
            <a:ext cx="3086435" cy="4021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#C8D3E3 · secondary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988800" y="3718983"/>
            <a:ext cx="5156200" cy="5653617"/>
          </a:xfrm>
          <a:prstGeom prst="roundRect">
            <a:avLst>
              <a:gd name="adj" fmla="val 3695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2302067" y="4032250"/>
            <a:ext cx="498263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RULES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302067" y="4483100"/>
            <a:ext cx="4665557" cy="183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842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Blue is for actions, eyebrow squares and data highlights. Never set body or headline text in light blue. Coral is reserved for alerts and critical data points.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8445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262464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COLOUR · IN DATA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7620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422400"/>
            <a:ext cx="9199959" cy="8102600"/>
          </a:xfrm>
          <a:prstGeom prst="roundRect">
            <a:avLst>
              <a:gd name="adj" fmla="val 3292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562100" y="1803400"/>
            <a:ext cx="2655464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THE BREAKTHROUGH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53585" y="1803400"/>
            <a:ext cx="381730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QUERY TIME VS DATA SIZE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2311400"/>
            <a:ext cx="8361759" cy="59327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62100" y="8244152"/>
            <a:ext cx="8361759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562100" y="8481219"/>
            <a:ext cx="8612612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637"/>
              </a:lnSpc>
              <a:buNone/>
            </a:pPr>
            <a:r>
              <a:rPr lang="en-US" sz="1800" dirty="0">
                <a:solidFill>
                  <a:srgbClr val="E6EC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address of a record is computed, not searched for. Ten thousand records or ten billion, the clock reads the same.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800159" y="1422400"/>
            <a:ext cx="6979325" cy="5409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ts val="3957"/>
              </a:lnSpc>
              <a:buNone/>
            </a:pPr>
            <a:r>
              <a:rPr lang="en-US" sz="3600" kern="0" spc="-108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Blue is always Black Forest.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0800159" y="3746500"/>
            <a:ext cx="6344841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0800159" y="4300008"/>
            <a:ext cx="609600" cy="57150"/>
          </a:xfrm>
          <a:prstGeom prst="roundRect">
            <a:avLst>
              <a:gd name="adj" fmla="val 50000"/>
            </a:avLst>
          </a:prstGeom>
          <a:solidFill>
            <a:srgbClr val="38B6FF"/>
          </a:solidFill>
          <a:ln/>
          <a:effectLst>
            <a:outerShdw blurRad="114300" dist="50800" dir="16200000" algn="bl" rotWithShape="0">
              <a:srgbClr val="38B6FF">
                <a:alpha val="8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1600259" y="3945467"/>
            <a:ext cx="5711083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Hero series · Black Forest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1600259" y="4432300"/>
            <a:ext cx="60992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 · 6px · glow 12px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0800159" y="4902200"/>
            <a:ext cx="6344841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0800159" y="5465233"/>
            <a:ext cx="609600" cy="38100"/>
          </a:xfrm>
          <a:prstGeom prst="roundRect">
            <a:avLst>
              <a:gd name="adj" fmla="val 50000"/>
            </a:avLst>
          </a:prstGeom>
          <a:solidFill>
            <a:srgbClr val="E564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1600259" y="5101167"/>
            <a:ext cx="5711083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Comparison · brute force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1600259" y="5588000"/>
            <a:ext cx="60992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#E5646A · 4px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0800159" y="6057900"/>
            <a:ext cx="6344841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0800159" y="6625696"/>
            <a:ext cx="609600" cy="28575"/>
          </a:xfrm>
          <a:prstGeom prst="roundRect">
            <a:avLst>
              <a:gd name="adj" fmla="val 50000"/>
            </a:avLst>
          </a:prstGeom>
          <a:solidFill>
            <a:srgbClr val="9FB0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1600259" y="6256867"/>
            <a:ext cx="5711083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Baseline · other methods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1600259" y="6743700"/>
            <a:ext cx="60992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#9FB0C6 · 3px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0800159" y="7213600"/>
            <a:ext cx="6344841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0800159" y="7605183"/>
            <a:ext cx="609600" cy="381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5646A">
                  <a:alpha val="32000"/>
                </a:srgbClr>
              </a:gs>
              <a:gs pos="100000">
                <a:srgbClr val="E5646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159" y="7605183"/>
            <a:ext cx="609600" cy="3810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600259" y="7412567"/>
            <a:ext cx="5711083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Gap area</a:t>
            </a:r>
            <a:endParaRPr lang="en-US" sz="2100" dirty="0"/>
          </a:p>
        </p:txBody>
      </p:sp>
      <p:sp>
        <p:nvSpPr>
          <p:cNvPr id="28" name="Text 24"/>
          <p:cNvSpPr/>
          <p:nvPr/>
        </p:nvSpPr>
        <p:spPr>
          <a:xfrm>
            <a:off x="11600259" y="7899400"/>
            <a:ext cx="60992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#E5646A 32% → 0% · 180°</a:t>
            </a:r>
            <a:endParaRPr lang="en-US" sz="1650" dirty="0"/>
          </a:p>
        </p:txBody>
      </p:sp>
      <p:sp>
        <p:nvSpPr>
          <p:cNvPr id="29" name="Shape 25"/>
          <p:cNvSpPr/>
          <p:nvPr/>
        </p:nvSpPr>
        <p:spPr>
          <a:xfrm>
            <a:off x="10800159" y="8369300"/>
            <a:ext cx="6344841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10800159" y="8941858"/>
            <a:ext cx="609600" cy="19050"/>
          </a:xfrm>
          <a:prstGeom prst="roundRect">
            <a:avLst>
              <a:gd name="adj" fmla="val 50000"/>
            </a:avLst>
          </a:prstGeom>
          <a:solidFill>
            <a:srgbClr val="080B1A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11600259" y="8568267"/>
            <a:ext cx="5711083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Axes &amp; gridlines</a:t>
            </a:r>
            <a:endParaRPr lang="en-US" sz="2100" dirty="0"/>
          </a:p>
        </p:txBody>
      </p:sp>
      <p:sp>
        <p:nvSpPr>
          <p:cNvPr id="32" name="Text 28"/>
          <p:cNvSpPr/>
          <p:nvPr/>
        </p:nvSpPr>
        <p:spPr>
          <a:xfrm>
            <a:off x="11600259" y="9055100"/>
            <a:ext cx="609921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 16% on navy · DM Mono labels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8445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410089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GRADIENTS · DARK SURFACES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7620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422400"/>
            <a:ext cx="5130800" cy="2250017"/>
          </a:xfrm>
          <a:prstGeom prst="roundRect">
            <a:avLst>
              <a:gd name="adj" fmla="val 8467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7" y="1430867"/>
            <a:ext cx="5113867" cy="2233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786717"/>
            <a:ext cx="1840309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Horizon glow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136364" y="3896783"/>
            <a:ext cx="235118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RADIAL · 65% 100%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143000" y="437620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38B6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483783" y="43497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2478220" y="434975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0%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143000" y="47127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2597D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483783" y="46863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#2597DA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478220" y="468630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35% · 45%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143000" y="50493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80B1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483783" y="50228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2478220" y="5022850"/>
            <a:ext cx="133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80%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578600" y="1422400"/>
            <a:ext cx="5130800" cy="2250017"/>
          </a:xfrm>
          <a:prstGeom prst="roundRect">
            <a:avLst>
              <a:gd name="adj" fmla="val 8467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067" y="1430867"/>
            <a:ext cx="5113867" cy="22330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78600" y="3786717"/>
            <a:ext cx="1732359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Corner glow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9697641" y="3896783"/>
            <a:ext cx="221293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RADIAL · 100% 0%</a:t>
            </a:r>
            <a:endParaRPr lang="en-US" sz="1650" dirty="0"/>
          </a:p>
        </p:txBody>
      </p:sp>
      <p:sp>
        <p:nvSpPr>
          <p:cNvPr id="22" name="Shape 18"/>
          <p:cNvSpPr/>
          <p:nvPr/>
        </p:nvSpPr>
        <p:spPr>
          <a:xfrm>
            <a:off x="6578600" y="437620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38B6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919383" y="43497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7913820" y="434975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60% · 0%</a:t>
            </a:r>
            <a:endParaRPr lang="en-US" sz="1650" dirty="0"/>
          </a:p>
        </p:txBody>
      </p:sp>
      <p:sp>
        <p:nvSpPr>
          <p:cNvPr id="25" name="Shape 21"/>
          <p:cNvSpPr/>
          <p:nvPr/>
        </p:nvSpPr>
        <p:spPr>
          <a:xfrm>
            <a:off x="6578600" y="47127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2597D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6919383" y="46863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#2597DA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7913820" y="468630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0% · 75%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6578600" y="50493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80B1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6919383" y="50228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7913820" y="5022850"/>
            <a:ext cx="14593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base</a:t>
            </a:r>
            <a:endParaRPr lang="en-US" sz="1650" dirty="0"/>
          </a:p>
        </p:txBody>
      </p:sp>
      <p:sp>
        <p:nvSpPr>
          <p:cNvPr id="31" name="Shape 27"/>
          <p:cNvSpPr/>
          <p:nvPr/>
        </p:nvSpPr>
        <p:spPr>
          <a:xfrm>
            <a:off x="12014200" y="1422400"/>
            <a:ext cx="5130800" cy="2586567"/>
          </a:xfrm>
          <a:prstGeom prst="roundRect">
            <a:avLst>
              <a:gd name="adj" fmla="val 7365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2667" y="1430867"/>
            <a:ext cx="5113867" cy="256963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014200" y="4123267"/>
            <a:ext cx="1613694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Navy depth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15510404" y="4233333"/>
            <a:ext cx="179805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· 180°</a:t>
            </a:r>
            <a:endParaRPr lang="en-US" sz="1650" dirty="0"/>
          </a:p>
        </p:txBody>
      </p:sp>
      <p:sp>
        <p:nvSpPr>
          <p:cNvPr id="35" name="Shape 30"/>
          <p:cNvSpPr/>
          <p:nvPr/>
        </p:nvSpPr>
        <p:spPr>
          <a:xfrm>
            <a:off x="12014200" y="47127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E1121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12354983" y="46863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#0E1121</a:t>
            </a:r>
            <a:endParaRPr lang="en-US" sz="1650" dirty="0"/>
          </a:p>
        </p:txBody>
      </p:sp>
      <p:sp>
        <p:nvSpPr>
          <p:cNvPr id="37" name="Text 32"/>
          <p:cNvSpPr/>
          <p:nvPr/>
        </p:nvSpPr>
        <p:spPr>
          <a:xfrm>
            <a:off x="13349420" y="468630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0%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12014200" y="50493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80B1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12354983" y="50228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40" name="Text 35"/>
          <p:cNvSpPr/>
          <p:nvPr/>
        </p:nvSpPr>
        <p:spPr>
          <a:xfrm>
            <a:off x="13349420" y="5022850"/>
            <a:ext cx="14593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100%</a:t>
            </a:r>
            <a:endParaRPr lang="en-US" sz="1650" dirty="0"/>
          </a:p>
        </p:txBody>
      </p:sp>
      <p:sp>
        <p:nvSpPr>
          <p:cNvPr id="41" name="Shape 36"/>
          <p:cNvSpPr/>
          <p:nvPr/>
        </p:nvSpPr>
        <p:spPr>
          <a:xfrm>
            <a:off x="1143000" y="5645150"/>
            <a:ext cx="5130800" cy="2586567"/>
          </a:xfrm>
          <a:prstGeom prst="roundRect">
            <a:avLst>
              <a:gd name="adj" fmla="val 7365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7"/>
          <p:cNvSpPr/>
          <p:nvPr/>
        </p:nvSpPr>
        <p:spPr>
          <a:xfrm>
            <a:off x="1151467" y="5653617"/>
            <a:ext cx="5113867" cy="2569633"/>
          </a:xfrm>
          <a:prstGeom prst="rect">
            <a:avLst/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467" y="5653617"/>
            <a:ext cx="5113867" cy="2569633"/>
          </a:xfrm>
          <a:prstGeom prst="rect">
            <a:avLst/>
          </a:prstGeom>
        </p:spPr>
      </p:pic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467" y="5653617"/>
            <a:ext cx="5113867" cy="2569633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143000" y="8346017"/>
            <a:ext cx="1624277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Glass panel</a:t>
            </a:r>
            <a:endParaRPr lang="en-US" sz="2100" dirty="0"/>
          </a:p>
        </p:txBody>
      </p:sp>
      <p:sp>
        <p:nvSpPr>
          <p:cNvPr id="46" name="Text 39"/>
          <p:cNvSpPr/>
          <p:nvPr/>
        </p:nvSpPr>
        <p:spPr>
          <a:xfrm>
            <a:off x="3381904" y="8456083"/>
            <a:ext cx="318108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· 180° · BLUR 20</a:t>
            </a:r>
            <a:endParaRPr lang="en-US" sz="1650" dirty="0"/>
          </a:p>
        </p:txBody>
      </p:sp>
      <p:sp>
        <p:nvSpPr>
          <p:cNvPr id="47" name="Shape 40"/>
          <p:cNvSpPr/>
          <p:nvPr/>
        </p:nvSpPr>
        <p:spPr>
          <a:xfrm>
            <a:off x="1143000" y="89355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FFF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1"/>
          <p:cNvSpPr/>
          <p:nvPr/>
        </p:nvSpPr>
        <p:spPr>
          <a:xfrm>
            <a:off x="1483783" y="89090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</a:t>
            </a:r>
            <a:endParaRPr lang="en-US" sz="1650" dirty="0"/>
          </a:p>
        </p:txBody>
      </p:sp>
      <p:sp>
        <p:nvSpPr>
          <p:cNvPr id="49" name="Text 42"/>
          <p:cNvSpPr/>
          <p:nvPr/>
        </p:nvSpPr>
        <p:spPr>
          <a:xfrm>
            <a:off x="2478220" y="890905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14% · 0%</a:t>
            </a:r>
            <a:endParaRPr lang="en-US" sz="1650" dirty="0"/>
          </a:p>
        </p:txBody>
      </p:sp>
      <p:sp>
        <p:nvSpPr>
          <p:cNvPr id="50" name="Shape 43"/>
          <p:cNvSpPr/>
          <p:nvPr/>
        </p:nvSpPr>
        <p:spPr>
          <a:xfrm>
            <a:off x="1143000" y="92720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FFF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4"/>
          <p:cNvSpPr/>
          <p:nvPr/>
        </p:nvSpPr>
        <p:spPr>
          <a:xfrm>
            <a:off x="1483783" y="92456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</a:t>
            </a:r>
            <a:endParaRPr lang="en-US" sz="1650" dirty="0"/>
          </a:p>
        </p:txBody>
      </p:sp>
      <p:sp>
        <p:nvSpPr>
          <p:cNvPr id="52" name="Text 45"/>
          <p:cNvSpPr/>
          <p:nvPr/>
        </p:nvSpPr>
        <p:spPr>
          <a:xfrm>
            <a:off x="2478220" y="924560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4% · 100%</a:t>
            </a:r>
            <a:endParaRPr lang="en-US" sz="1650" dirty="0"/>
          </a:p>
        </p:txBody>
      </p:sp>
      <p:sp>
        <p:nvSpPr>
          <p:cNvPr id="53" name="Shape 46"/>
          <p:cNvSpPr/>
          <p:nvPr/>
        </p:nvSpPr>
        <p:spPr>
          <a:xfrm>
            <a:off x="6578600" y="5645150"/>
            <a:ext cx="5130800" cy="2250017"/>
          </a:xfrm>
          <a:prstGeom prst="roundRect">
            <a:avLst>
              <a:gd name="adj" fmla="val 8467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rcRect t="17250" b="17250"/>
          <a:stretch/>
        </p:blipFill>
        <p:spPr>
          <a:xfrm>
            <a:off x="6587067" y="5653617"/>
            <a:ext cx="5113867" cy="2233083"/>
          </a:xfrm>
          <a:prstGeom prst="rect">
            <a:avLst/>
          </a:prstGeom>
        </p:spPr>
      </p:pic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067" y="5653617"/>
            <a:ext cx="5113867" cy="2233083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6578600" y="8009467"/>
            <a:ext cx="1702329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Photo scrim</a:t>
            </a:r>
            <a:endParaRPr lang="en-US" sz="2100" dirty="0"/>
          </a:p>
        </p:txBody>
      </p:sp>
      <p:sp>
        <p:nvSpPr>
          <p:cNvPr id="57" name="Text 48"/>
          <p:cNvSpPr/>
          <p:nvPr/>
        </p:nvSpPr>
        <p:spPr>
          <a:xfrm>
            <a:off x="10074805" y="8119533"/>
            <a:ext cx="179805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· 180°</a:t>
            </a:r>
            <a:endParaRPr lang="en-US" sz="1650" dirty="0"/>
          </a:p>
        </p:txBody>
      </p:sp>
      <p:sp>
        <p:nvSpPr>
          <p:cNvPr id="58" name="Shape 49"/>
          <p:cNvSpPr/>
          <p:nvPr/>
        </p:nvSpPr>
        <p:spPr>
          <a:xfrm>
            <a:off x="6578600" y="85989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80B1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6919383" y="85725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60" name="Text 51"/>
          <p:cNvSpPr/>
          <p:nvPr/>
        </p:nvSpPr>
        <p:spPr>
          <a:xfrm>
            <a:off x="7913820" y="857250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40% · 0%</a:t>
            </a:r>
            <a:endParaRPr lang="en-US" sz="1650" dirty="0"/>
          </a:p>
        </p:txBody>
      </p:sp>
      <p:sp>
        <p:nvSpPr>
          <p:cNvPr id="61" name="Shape 52"/>
          <p:cNvSpPr/>
          <p:nvPr/>
        </p:nvSpPr>
        <p:spPr>
          <a:xfrm>
            <a:off x="6578600" y="89355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80B1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3"/>
          <p:cNvSpPr/>
          <p:nvPr/>
        </p:nvSpPr>
        <p:spPr>
          <a:xfrm>
            <a:off x="6919383" y="89090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63" name="Text 54"/>
          <p:cNvSpPr/>
          <p:nvPr/>
        </p:nvSpPr>
        <p:spPr>
          <a:xfrm>
            <a:off x="7913820" y="890905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0% · 30%</a:t>
            </a:r>
            <a:endParaRPr lang="en-US" sz="1650" dirty="0"/>
          </a:p>
        </p:txBody>
      </p:sp>
      <p:sp>
        <p:nvSpPr>
          <p:cNvPr id="64" name="Shape 55"/>
          <p:cNvSpPr/>
          <p:nvPr/>
        </p:nvSpPr>
        <p:spPr>
          <a:xfrm>
            <a:off x="6578600" y="92720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080B1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56"/>
          <p:cNvSpPr/>
          <p:nvPr/>
        </p:nvSpPr>
        <p:spPr>
          <a:xfrm>
            <a:off x="6919383" y="92456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#080B1A</a:t>
            </a:r>
            <a:endParaRPr lang="en-US" sz="1650" dirty="0"/>
          </a:p>
        </p:txBody>
      </p:sp>
      <p:sp>
        <p:nvSpPr>
          <p:cNvPr id="66" name="Text 57"/>
          <p:cNvSpPr/>
          <p:nvPr/>
        </p:nvSpPr>
        <p:spPr>
          <a:xfrm>
            <a:off x="7913820" y="9245600"/>
            <a:ext cx="133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90% · 100%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8445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426495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GRADIENTS · LIGHT SURFACES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7620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422400"/>
            <a:ext cx="5130800" cy="2586567"/>
          </a:xfrm>
          <a:prstGeom prst="roundRect">
            <a:avLst>
              <a:gd name="adj" fmla="val 7365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7" y="1430867"/>
            <a:ext cx="5113867" cy="25696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123267"/>
            <a:ext cx="1142206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Ice fade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639204" y="4233333"/>
            <a:ext cx="179805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· 180°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143000" y="47127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FFF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483783" y="46863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2478220" y="468630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0%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143000" y="50493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EAF5FE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483783" y="50228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#EAF5FE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478220" y="5022850"/>
            <a:ext cx="14593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100%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578600" y="1422400"/>
            <a:ext cx="5130800" cy="2586567"/>
          </a:xfrm>
          <a:prstGeom prst="roundRect">
            <a:avLst>
              <a:gd name="adj" fmla="val 7365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067" y="1430867"/>
            <a:ext cx="5113867" cy="256963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78600" y="4123267"/>
            <a:ext cx="1216686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Ice deep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10074805" y="4233333"/>
            <a:ext cx="179805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· 180°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6578600" y="47127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FFF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6919383" y="46863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7913820" y="468630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0%</a:t>
            </a:r>
            <a:endParaRPr lang="en-US" sz="1650" dirty="0"/>
          </a:p>
        </p:txBody>
      </p:sp>
      <p:sp>
        <p:nvSpPr>
          <p:cNvPr id="22" name="Shape 18"/>
          <p:cNvSpPr/>
          <p:nvPr/>
        </p:nvSpPr>
        <p:spPr>
          <a:xfrm>
            <a:off x="6578600" y="50493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D9ECF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919383" y="50228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#D9ECFA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7913820" y="5022850"/>
            <a:ext cx="14593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100%</a:t>
            </a:r>
            <a:endParaRPr lang="en-US" sz="1650" dirty="0"/>
          </a:p>
        </p:txBody>
      </p:sp>
      <p:sp>
        <p:nvSpPr>
          <p:cNvPr id="25" name="Shape 21"/>
          <p:cNvSpPr/>
          <p:nvPr/>
        </p:nvSpPr>
        <p:spPr>
          <a:xfrm>
            <a:off x="12014200" y="1422400"/>
            <a:ext cx="5130800" cy="2586567"/>
          </a:xfrm>
          <a:prstGeom prst="roundRect">
            <a:avLst>
              <a:gd name="adj" fmla="val 7365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2667" y="1430867"/>
            <a:ext cx="5113867" cy="256963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014200" y="4123267"/>
            <a:ext cx="1423591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Mist wash</a:t>
            </a:r>
            <a:endParaRPr lang="en-US" sz="2100" dirty="0"/>
          </a:p>
        </p:txBody>
      </p:sp>
      <p:sp>
        <p:nvSpPr>
          <p:cNvPr id="28" name="Text 23"/>
          <p:cNvSpPr/>
          <p:nvPr/>
        </p:nvSpPr>
        <p:spPr>
          <a:xfrm>
            <a:off x="15510404" y="4233333"/>
            <a:ext cx="179805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· 180°</a:t>
            </a:r>
            <a:endParaRPr lang="en-US" sz="1650" dirty="0"/>
          </a:p>
        </p:txBody>
      </p:sp>
      <p:sp>
        <p:nvSpPr>
          <p:cNvPr id="29" name="Shape 24"/>
          <p:cNvSpPr/>
          <p:nvPr/>
        </p:nvSpPr>
        <p:spPr>
          <a:xfrm>
            <a:off x="12014200" y="47127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4F8FC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/>
          <p:nvPr/>
        </p:nvSpPr>
        <p:spPr>
          <a:xfrm>
            <a:off x="12354983" y="46863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#F4F8FC</a:t>
            </a:r>
            <a:endParaRPr lang="en-US" sz="1650" dirty="0"/>
          </a:p>
        </p:txBody>
      </p:sp>
      <p:sp>
        <p:nvSpPr>
          <p:cNvPr id="31" name="Text 26"/>
          <p:cNvSpPr/>
          <p:nvPr/>
        </p:nvSpPr>
        <p:spPr>
          <a:xfrm>
            <a:off x="13349420" y="468630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0%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12014200" y="50493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DCE8F0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12354983" y="50228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#DCE8F0</a:t>
            </a:r>
            <a:endParaRPr lang="en-US" sz="1650" dirty="0"/>
          </a:p>
        </p:txBody>
      </p:sp>
      <p:sp>
        <p:nvSpPr>
          <p:cNvPr id="34" name="Text 29"/>
          <p:cNvSpPr/>
          <p:nvPr/>
        </p:nvSpPr>
        <p:spPr>
          <a:xfrm>
            <a:off x="13349420" y="5022850"/>
            <a:ext cx="14593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100%</a:t>
            </a:r>
            <a:endParaRPr lang="en-US" sz="1650" dirty="0"/>
          </a:p>
        </p:txBody>
      </p:sp>
      <p:sp>
        <p:nvSpPr>
          <p:cNvPr id="35" name="Shape 30"/>
          <p:cNvSpPr/>
          <p:nvPr/>
        </p:nvSpPr>
        <p:spPr>
          <a:xfrm>
            <a:off x="1143000" y="5645150"/>
            <a:ext cx="5130800" cy="2250017"/>
          </a:xfrm>
          <a:prstGeom prst="roundRect">
            <a:avLst>
              <a:gd name="adj" fmla="val 8467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467" y="5653617"/>
            <a:ext cx="5113867" cy="223308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143000" y="8009467"/>
            <a:ext cx="2435225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Light corner glow</a:t>
            </a:r>
            <a:endParaRPr lang="en-US" sz="2100" dirty="0"/>
          </a:p>
        </p:txBody>
      </p:sp>
      <p:sp>
        <p:nvSpPr>
          <p:cNvPr id="38" name="Text 32"/>
          <p:cNvSpPr/>
          <p:nvPr/>
        </p:nvSpPr>
        <p:spPr>
          <a:xfrm>
            <a:off x="4262041" y="8119533"/>
            <a:ext cx="2212935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RADIAL · 100% 0%</a:t>
            </a:r>
            <a:endParaRPr lang="en-US" sz="1650" dirty="0"/>
          </a:p>
        </p:txBody>
      </p:sp>
      <p:sp>
        <p:nvSpPr>
          <p:cNvPr id="39" name="Shape 33"/>
          <p:cNvSpPr/>
          <p:nvPr/>
        </p:nvSpPr>
        <p:spPr>
          <a:xfrm>
            <a:off x="1143000" y="85989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38B6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4"/>
          <p:cNvSpPr/>
          <p:nvPr/>
        </p:nvSpPr>
        <p:spPr>
          <a:xfrm>
            <a:off x="1483783" y="85725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</a:t>
            </a:r>
            <a:endParaRPr lang="en-US" sz="1650" dirty="0"/>
          </a:p>
        </p:txBody>
      </p:sp>
      <p:sp>
        <p:nvSpPr>
          <p:cNvPr id="41" name="Text 35"/>
          <p:cNvSpPr/>
          <p:nvPr/>
        </p:nvSpPr>
        <p:spPr>
          <a:xfrm>
            <a:off x="2478220" y="857250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35% · 0%</a:t>
            </a:r>
            <a:endParaRPr lang="en-US" sz="1650" dirty="0"/>
          </a:p>
        </p:txBody>
      </p:sp>
      <p:sp>
        <p:nvSpPr>
          <p:cNvPr id="42" name="Shape 36"/>
          <p:cNvSpPr/>
          <p:nvPr/>
        </p:nvSpPr>
        <p:spPr>
          <a:xfrm>
            <a:off x="1143000" y="89355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38B6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7"/>
          <p:cNvSpPr/>
          <p:nvPr/>
        </p:nvSpPr>
        <p:spPr>
          <a:xfrm>
            <a:off x="1483783" y="89090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</a:t>
            </a:r>
            <a:endParaRPr lang="en-US" sz="1650" dirty="0"/>
          </a:p>
        </p:txBody>
      </p:sp>
      <p:sp>
        <p:nvSpPr>
          <p:cNvPr id="44" name="Text 38"/>
          <p:cNvSpPr/>
          <p:nvPr/>
        </p:nvSpPr>
        <p:spPr>
          <a:xfrm>
            <a:off x="2478220" y="890905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0% · 75%</a:t>
            </a:r>
            <a:endParaRPr lang="en-US" sz="1650" dirty="0"/>
          </a:p>
        </p:txBody>
      </p:sp>
      <p:sp>
        <p:nvSpPr>
          <p:cNvPr id="45" name="Shape 39"/>
          <p:cNvSpPr/>
          <p:nvPr/>
        </p:nvSpPr>
        <p:spPr>
          <a:xfrm>
            <a:off x="1143000" y="92720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FFF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0"/>
          <p:cNvSpPr/>
          <p:nvPr/>
        </p:nvSpPr>
        <p:spPr>
          <a:xfrm>
            <a:off x="1483783" y="92456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</a:t>
            </a:r>
            <a:endParaRPr lang="en-US" sz="1650" dirty="0"/>
          </a:p>
        </p:txBody>
      </p:sp>
      <p:sp>
        <p:nvSpPr>
          <p:cNvPr id="47" name="Text 41"/>
          <p:cNvSpPr/>
          <p:nvPr/>
        </p:nvSpPr>
        <p:spPr>
          <a:xfrm>
            <a:off x="2478220" y="9245600"/>
            <a:ext cx="14593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base</a:t>
            </a:r>
            <a:endParaRPr lang="en-US" sz="1650" dirty="0"/>
          </a:p>
        </p:txBody>
      </p:sp>
      <p:sp>
        <p:nvSpPr>
          <p:cNvPr id="48" name="Shape 42"/>
          <p:cNvSpPr/>
          <p:nvPr/>
        </p:nvSpPr>
        <p:spPr>
          <a:xfrm>
            <a:off x="6578600" y="5645150"/>
            <a:ext cx="5130800" cy="2250017"/>
          </a:xfrm>
          <a:prstGeom prst="roundRect">
            <a:avLst>
              <a:gd name="adj" fmla="val 8467"/>
            </a:avLst>
          </a:prstGeom>
          <a:ln w="8467">
            <a:solidFill>
              <a:srgbClr val="080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067" y="5653617"/>
            <a:ext cx="5113867" cy="2233083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578600" y="8009467"/>
            <a:ext cx="1870340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Light horizon</a:t>
            </a:r>
            <a:endParaRPr lang="en-US" sz="2100" dirty="0"/>
          </a:p>
        </p:txBody>
      </p:sp>
      <p:sp>
        <p:nvSpPr>
          <p:cNvPr id="51" name="Text 44"/>
          <p:cNvSpPr/>
          <p:nvPr/>
        </p:nvSpPr>
        <p:spPr>
          <a:xfrm>
            <a:off x="9571963" y="8119533"/>
            <a:ext cx="235118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RADIAL · 65% 100%</a:t>
            </a:r>
            <a:endParaRPr lang="en-US" sz="1650" dirty="0"/>
          </a:p>
        </p:txBody>
      </p:sp>
      <p:sp>
        <p:nvSpPr>
          <p:cNvPr id="52" name="Shape 45"/>
          <p:cNvSpPr/>
          <p:nvPr/>
        </p:nvSpPr>
        <p:spPr>
          <a:xfrm>
            <a:off x="6578600" y="85989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2597DA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46"/>
          <p:cNvSpPr/>
          <p:nvPr/>
        </p:nvSpPr>
        <p:spPr>
          <a:xfrm>
            <a:off x="6919383" y="85725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#2597DA</a:t>
            </a:r>
            <a:endParaRPr lang="en-US" sz="1650" dirty="0"/>
          </a:p>
        </p:txBody>
      </p:sp>
      <p:sp>
        <p:nvSpPr>
          <p:cNvPr id="54" name="Text 47"/>
          <p:cNvSpPr/>
          <p:nvPr/>
        </p:nvSpPr>
        <p:spPr>
          <a:xfrm>
            <a:off x="7913820" y="8572500"/>
            <a:ext cx="108214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45% · 0%</a:t>
            </a:r>
            <a:endParaRPr lang="en-US" sz="1650" dirty="0"/>
          </a:p>
        </p:txBody>
      </p:sp>
      <p:sp>
        <p:nvSpPr>
          <p:cNvPr id="55" name="Shape 48"/>
          <p:cNvSpPr/>
          <p:nvPr/>
        </p:nvSpPr>
        <p:spPr>
          <a:xfrm>
            <a:off x="6578600" y="8935509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38B6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49"/>
          <p:cNvSpPr/>
          <p:nvPr/>
        </p:nvSpPr>
        <p:spPr>
          <a:xfrm>
            <a:off x="6919383" y="890905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#38B6FF</a:t>
            </a:r>
            <a:endParaRPr lang="en-US" sz="1650" dirty="0"/>
          </a:p>
        </p:txBody>
      </p:sp>
      <p:sp>
        <p:nvSpPr>
          <p:cNvPr id="57" name="Text 50"/>
          <p:cNvSpPr/>
          <p:nvPr/>
        </p:nvSpPr>
        <p:spPr>
          <a:xfrm>
            <a:off x="7913820" y="8909050"/>
            <a:ext cx="1207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18% · 45%</a:t>
            </a:r>
            <a:endParaRPr lang="en-US" sz="1650" dirty="0"/>
          </a:p>
        </p:txBody>
      </p:sp>
      <p:sp>
        <p:nvSpPr>
          <p:cNvPr id="58" name="Shape 51"/>
          <p:cNvSpPr/>
          <p:nvPr/>
        </p:nvSpPr>
        <p:spPr>
          <a:xfrm>
            <a:off x="6578600" y="9272058"/>
            <a:ext cx="226483" cy="226483"/>
          </a:xfrm>
          <a:prstGeom prst="roundRect">
            <a:avLst>
              <a:gd name="adj" fmla="val 25234"/>
            </a:avLst>
          </a:prstGeom>
          <a:solidFill>
            <a:srgbClr val="FFFFFF"/>
          </a:solidFill>
          <a:ln w="8467">
            <a:solidFill>
              <a:srgbClr val="080B1A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2"/>
          <p:cNvSpPr/>
          <p:nvPr/>
        </p:nvSpPr>
        <p:spPr>
          <a:xfrm>
            <a:off x="6919383" y="9245600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#FFFFFF</a:t>
            </a:r>
            <a:endParaRPr lang="en-US" sz="1650" dirty="0"/>
          </a:p>
        </p:txBody>
      </p:sp>
      <p:sp>
        <p:nvSpPr>
          <p:cNvPr id="60" name="Text 53"/>
          <p:cNvSpPr/>
          <p:nvPr/>
        </p:nvSpPr>
        <p:spPr>
          <a:xfrm>
            <a:off x="7913820" y="9245600"/>
            <a:ext cx="14593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100% · base</a:t>
            </a:r>
            <a:endParaRPr lang="en-US" sz="1650" dirty="0"/>
          </a:p>
        </p:txBody>
      </p:sp>
      <p:sp>
        <p:nvSpPr>
          <p:cNvPr id="61" name="Shape 54"/>
          <p:cNvSpPr/>
          <p:nvPr/>
        </p:nvSpPr>
        <p:spPr>
          <a:xfrm>
            <a:off x="12014200" y="5645150"/>
            <a:ext cx="5130800" cy="3879850"/>
          </a:xfrm>
          <a:prstGeom prst="roundRect">
            <a:avLst>
              <a:gd name="adj" fmla="val 4910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5"/>
          <p:cNvSpPr/>
          <p:nvPr/>
        </p:nvSpPr>
        <p:spPr>
          <a:xfrm>
            <a:off x="12327467" y="7721865"/>
            <a:ext cx="495469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RULES</a:t>
            </a:r>
            <a:endParaRPr lang="en-US" sz="1650" dirty="0"/>
          </a:p>
        </p:txBody>
      </p:sp>
      <p:sp>
        <p:nvSpPr>
          <p:cNvPr id="63" name="Text 56"/>
          <p:cNvSpPr/>
          <p:nvPr/>
        </p:nvSpPr>
        <p:spPr>
          <a:xfrm>
            <a:off x="12327467" y="8134615"/>
            <a:ext cx="4639395" cy="1115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842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Gradients only mix the core palette. Use one glow per surface. Light gradients sit behind navy text only.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14400"/>
            <a:ext cx="1143000" cy="6510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373409"/>
            <a:ext cx="133350" cy="1333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/>
          <p:nvPr/>
        </p:nvSpPr>
        <p:spPr>
          <a:xfrm>
            <a:off x="1409700" y="7241117"/>
            <a:ext cx="2392759" cy="436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38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SECTION 03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143000" y="7829550"/>
            <a:ext cx="17602200" cy="158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2150"/>
              </a:lnSpc>
              <a:buNone/>
            </a:pPr>
            <a:r>
              <a:rPr lang="en-US" sz="13500" kern="0" spc="-743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Typography</a:t>
            </a:r>
            <a:endParaRPr lang="en-US" sz="13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15095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TYPEFACES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651000"/>
            <a:ext cx="9156568" cy="7721600"/>
          </a:xfrm>
          <a:prstGeom prst="roundRect">
            <a:avLst>
              <a:gd name="adj" fmla="val 2961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532467" y="2040467"/>
            <a:ext cx="921539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PRIMARY · HEADLINES &amp; BODY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32467" y="4160308"/>
            <a:ext cx="9215398" cy="2143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6561"/>
              </a:lnSpc>
              <a:buNone/>
            </a:pPr>
            <a:r>
              <a:rPr lang="en-US" sz="19500" kern="0" spc="-975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Aa</a:t>
            </a:r>
            <a:endParaRPr lang="en-US" sz="19500" dirty="0"/>
          </a:p>
        </p:txBody>
      </p:sp>
      <p:sp>
        <p:nvSpPr>
          <p:cNvPr id="8" name="Text 6"/>
          <p:cNvSpPr/>
          <p:nvPr/>
        </p:nvSpPr>
        <p:spPr>
          <a:xfrm>
            <a:off x="1532467" y="6493933"/>
            <a:ext cx="8628964" cy="9440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kern="0" spc="-126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Manrope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532467" y="7514167"/>
            <a:ext cx="1069181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92148" y="7514167"/>
            <a:ext cx="1130035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Medium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112683" y="7514167"/>
            <a:ext cx="1321461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SemiBold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624645" y="7514167"/>
            <a:ext cx="672439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Bold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32467" y="8153400"/>
            <a:ext cx="8628964" cy="86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ABCDEFGHIJKLMNOPQRSTUVWXYZ abcdefghijklmnopqrstuvwxyz 0123456789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04368" y="1651000"/>
            <a:ext cx="6540500" cy="7721600"/>
          </a:xfrm>
          <a:prstGeom prst="roundRect">
            <a:avLst>
              <a:gd name="adj" fmla="val 3495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985368" y="2032000"/>
            <a:ext cx="635635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SECONDARY · EYEBROWS, DATA, LABELS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85368" y="5431367"/>
            <a:ext cx="6356350" cy="175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ts val="13404"/>
              </a:lnSpc>
              <a:buNone/>
            </a:pPr>
            <a:r>
              <a:rPr lang="en-US" sz="15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5000" dirty="0"/>
          </a:p>
        </p:txBody>
      </p:sp>
      <p:sp>
        <p:nvSpPr>
          <p:cNvPr id="17" name="Text 15"/>
          <p:cNvSpPr/>
          <p:nvPr/>
        </p:nvSpPr>
        <p:spPr>
          <a:xfrm>
            <a:off x="10985368" y="7374467"/>
            <a:ext cx="6356350" cy="6392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DM Mono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985368" y="8089900"/>
            <a:ext cx="998273" cy="4529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174141" y="8089900"/>
            <a:ext cx="1054761" cy="4529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Medium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985368" y="8695267"/>
            <a:ext cx="6356350" cy="334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UPPERCASE · TRACKING +16%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393697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TYPE SCALE · WEB DESKTOP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2918883"/>
            <a:ext cx="16002000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143000" y="2099733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DISPLAY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2414058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Bold 96 / 0.9 / −5%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0" y="1574800"/>
            <a:ext cx="13830300" cy="86095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ts val="6440"/>
              </a:lnSpc>
              <a:buNone/>
            </a:pPr>
            <a:r>
              <a:rPr lang="en-US" sz="7200" kern="0" spc="-36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Constant time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1143000" y="4750329"/>
            <a:ext cx="16002000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143000" y="3931179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4245504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Bold 64 / 1.0 / −4%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72000" y="3626379"/>
            <a:ext cx="13830300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ts val="4732"/>
              </a:lnSpc>
              <a:buNone/>
            </a:pPr>
            <a:r>
              <a:rPr lang="en-US" sz="4800" kern="0" spc="-192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Simplify the complexity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143000" y="6395508"/>
            <a:ext cx="16002000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3000" y="5576358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5890683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SemiBold 40 / 1.1 / −3%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72000" y="5457825"/>
            <a:ext cx="1383030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ts val="3290"/>
              </a:lnSpc>
              <a:buNone/>
            </a:pPr>
            <a:r>
              <a:rPr lang="en-US" sz="3000" kern="0" spc="-90" dirty="0">
                <a:solidFill>
                  <a:srgbClr val="080B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Four things Black Forest does differently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143000" y="8036454"/>
            <a:ext cx="16002000" cy="9525"/>
          </a:xfrm>
          <a:prstGeom prst="rect">
            <a:avLst/>
          </a:prstGeom>
          <a:solidFill>
            <a:srgbClr val="080B1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43000" y="7145338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7459663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20 / 1.5 / 0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72000" y="7103004"/>
            <a:ext cx="9810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 Forest indexes data on arrival and returns results in constant time, at any scale.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3000" y="8743950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9058275"/>
            <a:ext cx="37719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4B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Plex Mono 13 / +16%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4572000" y="9001125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0600" y="8897409"/>
            <a:ext cx="2907933" cy="359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SPACE &amp; DEFENCE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14400"/>
            <a:ext cx="1143000" cy="6510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373409"/>
            <a:ext cx="133350" cy="1333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/>
          <p:nvPr/>
        </p:nvSpPr>
        <p:spPr>
          <a:xfrm>
            <a:off x="1409700" y="7241117"/>
            <a:ext cx="2392759" cy="436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38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SECTION 04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143000" y="7829550"/>
            <a:ext cx="17602200" cy="158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2150"/>
              </a:lnSpc>
              <a:buNone/>
            </a:pPr>
            <a:r>
              <a:rPr lang="en-US" sz="13500" kern="0" spc="-743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Components</a:t>
            </a:r>
            <a:endParaRPr lang="en-US" sz="13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8445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295276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BUTTONS &amp; CONTROLS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7620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422400"/>
            <a:ext cx="7848600" cy="8102600"/>
          </a:xfrm>
          <a:prstGeom prst="roundRect">
            <a:avLst>
              <a:gd name="adj" fmla="val 3398"/>
            </a:avLst>
          </a:prstGeom>
          <a:solidFill>
            <a:srgbClr val="0E11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562100" y="1841500"/>
            <a:ext cx="771144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ON DARK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62100" y="2387600"/>
            <a:ext cx="4101703" cy="774700"/>
          </a:xfrm>
          <a:prstGeom prst="roundRect">
            <a:avLst>
              <a:gd name="adj" fmla="val 50000"/>
            </a:avLst>
          </a:prstGeom>
          <a:solidFill>
            <a:srgbClr val="161A2B"/>
          </a:solidFill>
          <a:ln w="8467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94417" y="2567517"/>
            <a:ext cx="3560121" cy="4529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kern="0" spc="2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DISCOVER BLACK FOREST™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562100" y="3314700"/>
            <a:ext cx="2892557" cy="774700"/>
          </a:xfrm>
          <a:prstGeom prst="roundRect">
            <a:avLst>
              <a:gd name="adj" fmla="val 50000"/>
            </a:avLst>
          </a:prstGeom>
          <a:solidFill>
            <a:srgbClr val="12294A"/>
          </a:solidFill>
          <a:ln w="8467">
            <a:solidFill>
              <a:srgbClr val="2597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894417" y="3528483"/>
            <a:ext cx="1999324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Request a demo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2791" y="3597275"/>
            <a:ext cx="209550" cy="2095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07057" y="3314700"/>
            <a:ext cx="1579033" cy="774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930907" y="3486150"/>
            <a:ext cx="1007533" cy="469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080B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Primary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562100" y="4241800"/>
            <a:ext cx="2399506" cy="774700"/>
          </a:xfrm>
          <a:prstGeom prst="roundRect">
            <a:avLst>
              <a:gd name="adj" fmla="val 50000"/>
            </a:avLst>
          </a:prstGeom>
          <a:solidFill>
            <a:srgbClr val="1E2130"/>
          </a:solidFill>
          <a:ln w="8467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894417" y="4455583"/>
            <a:ext cx="1506273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All solutions</a:t>
            </a:r>
            <a:endParaRPr lang="en-US" sz="1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9740" y="4524375"/>
            <a:ext cx="209550" cy="2095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62100" y="5458884"/>
            <a:ext cx="2313384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597D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Explore the sector</a:t>
            </a:r>
            <a:endParaRPr lang="en-US" sz="1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4534" y="5527675"/>
            <a:ext cx="209550" cy="2095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446984" y="5283200"/>
            <a:ext cx="1772444" cy="698500"/>
          </a:xfrm>
          <a:prstGeom prst="rect">
            <a:avLst/>
          </a:prstGeom>
          <a:solidFill>
            <a:srgbClr val="1622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4446984" y="5964767"/>
            <a:ext cx="1772444" cy="16933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4637484" y="5450417"/>
            <a:ext cx="1200944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Solutions</a:t>
            </a:r>
            <a:endParaRPr lang="en-US" sz="1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7478" y="5538258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62328" y="5458884"/>
            <a:ext cx="1223433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</a:t>
            </a:r>
            <a:endParaRPr lang="en-US" sz="1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4811" y="5546725"/>
            <a:ext cx="171450" cy="1714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562100" y="6312958"/>
            <a:ext cx="167217" cy="167217"/>
          </a:xfrm>
          <a:prstGeom prst="ellipse">
            <a:avLst/>
          </a:prstGeom>
          <a:ln w="1693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9"/>
          <p:cNvSpPr/>
          <p:nvPr/>
        </p:nvSpPr>
        <p:spPr>
          <a:xfrm>
            <a:off x="1843617" y="6248400"/>
            <a:ext cx="1475317" cy="334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1562100" y="6811434"/>
            <a:ext cx="664633" cy="664633"/>
          </a:xfrm>
          <a:prstGeom prst="roundRect">
            <a:avLst>
              <a:gd name="adj" fmla="val 17197"/>
            </a:avLst>
          </a:prstGeom>
          <a:solidFill>
            <a:srgbClr val="12294A"/>
          </a:solidFill>
          <a:ln w="8467">
            <a:solidFill>
              <a:srgbClr val="2597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89642" y="7038975"/>
            <a:ext cx="209550" cy="20955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2398183" y="6819900"/>
            <a:ext cx="647700" cy="6477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7258" y="7038975"/>
            <a:ext cx="209550" cy="20955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3293533" y="7129463"/>
            <a:ext cx="266700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3"/>
          <p:cNvSpPr/>
          <p:nvPr/>
        </p:nvSpPr>
        <p:spPr>
          <a:xfrm>
            <a:off x="3655483" y="7129463"/>
            <a:ext cx="266700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4"/>
          <p:cNvSpPr/>
          <p:nvPr/>
        </p:nvSpPr>
        <p:spPr>
          <a:xfrm>
            <a:off x="4017433" y="7129463"/>
            <a:ext cx="4572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5"/>
          <p:cNvSpPr/>
          <p:nvPr/>
        </p:nvSpPr>
        <p:spPr>
          <a:xfrm>
            <a:off x="4741333" y="7004050"/>
            <a:ext cx="3582141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C8D3E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CAROUSEL · PAGINATION</a:t>
            </a:r>
            <a:endParaRPr lang="en-US" sz="1650" dirty="0"/>
          </a:p>
        </p:txBody>
      </p:sp>
      <p:sp>
        <p:nvSpPr>
          <p:cNvPr id="35" name="Text 26"/>
          <p:cNvSpPr/>
          <p:nvPr/>
        </p:nvSpPr>
        <p:spPr>
          <a:xfrm>
            <a:off x="1562100" y="8077200"/>
            <a:ext cx="722071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1800" dirty="0">
                <a:solidFill>
                  <a:srgbClr val="E6EC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primary button per screen. Secondary actions are outlined or plain text links with an arrow. Tags and labels are plain mono text, not pills.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9296400" y="1422400"/>
            <a:ext cx="7848600" cy="810260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8467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8"/>
          <p:cNvSpPr/>
          <p:nvPr/>
        </p:nvSpPr>
        <p:spPr>
          <a:xfrm>
            <a:off x="9723967" y="1849967"/>
            <a:ext cx="769281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ON LIGHT</a:t>
            </a:r>
            <a:endParaRPr lang="en-US" sz="1650" dirty="0"/>
          </a:p>
        </p:txBody>
      </p:sp>
      <p:sp>
        <p:nvSpPr>
          <p:cNvPr id="38" name="Shape 29"/>
          <p:cNvSpPr/>
          <p:nvPr/>
        </p:nvSpPr>
        <p:spPr>
          <a:xfrm>
            <a:off x="9723967" y="2396067"/>
            <a:ext cx="1579033" cy="774700"/>
          </a:xfrm>
          <a:prstGeom prst="roundRect">
            <a:avLst>
              <a:gd name="adj" fmla="val 50000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0"/>
          <p:cNvSpPr/>
          <p:nvPr/>
        </p:nvSpPr>
        <p:spPr>
          <a:xfrm>
            <a:off x="10047817" y="2567517"/>
            <a:ext cx="1007533" cy="469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Primary</a:t>
            </a:r>
            <a:endParaRPr lang="en-US" sz="1950" dirty="0"/>
          </a:p>
        </p:txBody>
      </p:sp>
      <p:sp>
        <p:nvSpPr>
          <p:cNvPr id="40" name="Shape 31"/>
          <p:cNvSpPr/>
          <p:nvPr/>
        </p:nvSpPr>
        <p:spPr>
          <a:xfrm>
            <a:off x="11455400" y="2396067"/>
            <a:ext cx="2121429" cy="774700"/>
          </a:xfrm>
          <a:prstGeom prst="roundRect">
            <a:avLst>
              <a:gd name="adj" fmla="val 50000"/>
            </a:avLst>
          </a:prstGeom>
          <a:solidFill>
            <a:srgbClr val="E6F3FD"/>
          </a:solidFill>
          <a:ln w="8467">
            <a:solidFill>
              <a:srgbClr val="9FD2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11787716" y="2575983"/>
            <a:ext cx="1532996" cy="4529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080B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Get in touch</a:t>
            </a:r>
            <a:endParaRPr lang="en-US" sz="1950" dirty="0"/>
          </a:p>
        </p:txBody>
      </p:sp>
      <p:sp>
        <p:nvSpPr>
          <p:cNvPr id="42" name="Shape 33"/>
          <p:cNvSpPr/>
          <p:nvPr/>
        </p:nvSpPr>
        <p:spPr>
          <a:xfrm>
            <a:off x="13729229" y="2396067"/>
            <a:ext cx="2246842" cy="774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467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4"/>
          <p:cNvSpPr/>
          <p:nvPr/>
        </p:nvSpPr>
        <p:spPr>
          <a:xfrm>
            <a:off x="14061546" y="2609850"/>
            <a:ext cx="1353608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080B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Read more</a:t>
            </a:r>
            <a:endParaRPr lang="en-US" sz="195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34204" y="2678642"/>
            <a:ext cx="209550" cy="20955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9723967" y="3437467"/>
            <a:ext cx="2302272" cy="757767"/>
          </a:xfrm>
          <a:prstGeom prst="roundRect">
            <a:avLst>
              <a:gd name="adj" fmla="val 50000"/>
            </a:avLst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36"/>
          <p:cNvSpPr/>
          <p:nvPr/>
        </p:nvSpPr>
        <p:spPr>
          <a:xfrm>
            <a:off x="10047817" y="3642783"/>
            <a:ext cx="1425972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080B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Case study</a:t>
            </a:r>
            <a:endParaRPr lang="en-US" sz="195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92839" y="3711575"/>
            <a:ext cx="209550" cy="20955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2292939" y="3642783"/>
            <a:ext cx="2313384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597D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Explore the sector</a:t>
            </a:r>
            <a:endParaRPr lang="en-US" sz="195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25374" y="3711575"/>
            <a:ext cx="209550" cy="209550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9723967" y="4461933"/>
            <a:ext cx="5174059" cy="740833"/>
          </a:xfrm>
          <a:prstGeom prst="roundRect">
            <a:avLst>
              <a:gd name="adj" fmla="val 15429"/>
            </a:avLst>
          </a:prstGeom>
          <a:solidFill>
            <a:srgbClr val="EAF5F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71617" y="4727575"/>
            <a:ext cx="209550" cy="20955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10276417" y="4675717"/>
            <a:ext cx="328613" cy="351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</a:t>
            </a:r>
            <a:endParaRPr lang="en-US" sz="1800" dirty="0"/>
          </a:p>
        </p:txBody>
      </p:sp>
      <p:sp>
        <p:nvSpPr>
          <p:cNvPr id="53" name="Shape 40"/>
          <p:cNvSpPr/>
          <p:nvPr/>
        </p:nvSpPr>
        <p:spPr>
          <a:xfrm>
            <a:off x="10738379" y="5128683"/>
            <a:ext cx="1239441" cy="16933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90779" y="4719108"/>
            <a:ext cx="209550" cy="20955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11195579" y="4667250"/>
            <a:ext cx="706041" cy="351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97D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Blogs</a:t>
            </a:r>
            <a:endParaRPr lang="en-US" sz="18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87370" y="4727575"/>
            <a:ext cx="209550" cy="20955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12492170" y="4675717"/>
            <a:ext cx="679847" cy="351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News</a:t>
            </a:r>
            <a:endParaRPr lang="en-US" sz="18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57767" y="4727575"/>
            <a:ext cx="209550" cy="20955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13762567" y="4675717"/>
            <a:ext cx="964010" cy="351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Reports</a:t>
            </a:r>
            <a:endParaRPr lang="en-US" sz="1800" dirty="0"/>
          </a:p>
        </p:txBody>
      </p:sp>
      <p:sp>
        <p:nvSpPr>
          <p:cNvPr id="60" name="Shape 44"/>
          <p:cNvSpPr/>
          <p:nvPr/>
        </p:nvSpPr>
        <p:spPr>
          <a:xfrm>
            <a:off x="9723967" y="5469467"/>
            <a:ext cx="2931716" cy="736600"/>
          </a:xfrm>
          <a:prstGeom prst="roundRect">
            <a:avLst>
              <a:gd name="adj" fmla="val 15517"/>
            </a:avLst>
          </a:prstGeom>
          <a:ln w="8467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45"/>
          <p:cNvSpPr/>
          <p:nvPr/>
        </p:nvSpPr>
        <p:spPr>
          <a:xfrm>
            <a:off x="9941984" y="5664200"/>
            <a:ext cx="2228981" cy="376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sales@craxel.com</a:t>
            </a:r>
            <a:endParaRPr lang="en-US" sz="1950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228115" y="5732992"/>
            <a:ext cx="209550" cy="209550"/>
          </a:xfrm>
          <a:prstGeom prst="rect">
            <a:avLst/>
          </a:prstGeom>
        </p:spPr>
      </p:pic>
      <p:sp>
        <p:nvSpPr>
          <p:cNvPr id="63" name="Shape 46"/>
          <p:cNvSpPr/>
          <p:nvPr/>
        </p:nvSpPr>
        <p:spPr>
          <a:xfrm>
            <a:off x="12789032" y="5469467"/>
            <a:ext cx="664633" cy="736600"/>
          </a:xfrm>
          <a:prstGeom prst="roundRect">
            <a:avLst>
              <a:gd name="adj" fmla="val 17197"/>
            </a:avLst>
          </a:prstGeom>
          <a:ln w="8467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16574" y="5732992"/>
            <a:ext cx="209550" cy="209550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9723967" y="8068734"/>
            <a:ext cx="720327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1800" dirty="0">
                <a:solidFill>
                  <a:srgbClr val="4B5A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Ink button is primary on light. Filter tabs use line icons with an underline on the active item. Text links are #2597DA with a trailing arrow.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311668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SURFACES &amp; EYEBROWS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18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651000"/>
            <a:ext cx="5156200" cy="6688667"/>
          </a:xfrm>
          <a:prstGeom prst="roundRect">
            <a:avLst>
              <a:gd name="adj" fmla="val 4433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456267" y="2046817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84867" y="1964267"/>
            <a:ext cx="135030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PLATFORM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56267" y="7626350"/>
            <a:ext cx="4982634" cy="438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ts val="3141"/>
              </a:lnSpc>
              <a:buNone/>
            </a:pPr>
            <a:r>
              <a:rPr lang="en-US" sz="3000" kern="0" spc="-9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Indexed on arrival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8492067"/>
            <a:ext cx="5310886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Light card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9093200"/>
            <a:ext cx="567182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#F4F8FC · 1px #080B1A 8% · r24</a:t>
            </a:r>
            <a:endParaRPr lang="en-US" sz="1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1651000"/>
            <a:ext cx="5156200" cy="668866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70700" y="20383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099300" y="1955800"/>
            <a:ext cx="150958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HIGHLIGHT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870700" y="7634817"/>
            <a:ext cx="5001260" cy="438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ts val="3141"/>
              </a:lnSpc>
              <a:buNone/>
            </a:pPr>
            <a:r>
              <a:rPr lang="en-US" sz="3000" kern="0" spc="-90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Constant-time index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65900" y="8492067"/>
            <a:ext cx="5310886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Feature card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565900" y="9093200"/>
            <a:ext cx="567182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Corner glow · one per group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1988800" y="1651000"/>
            <a:ext cx="5156200" cy="6688667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24284" r="24284"/>
          <a:stretch/>
        </p:blipFill>
        <p:spPr>
          <a:xfrm>
            <a:off x="11988800" y="1651000"/>
            <a:ext cx="5156200" cy="668866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2217400" y="6735234"/>
            <a:ext cx="4699000" cy="1375833"/>
          </a:xfrm>
          <a:prstGeom prst="roundRect">
            <a:avLst>
              <a:gd name="adj" fmla="val 11077"/>
            </a:avLst>
          </a:prstGeom>
          <a:ln w="8467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5867" y="6743700"/>
            <a:ext cx="4682067" cy="13589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2454467" y="70548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12683067" y="6972300"/>
            <a:ext cx="11910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DEFENCE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12454467" y="7366000"/>
            <a:ext cx="4351613" cy="546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-48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Glass over photo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11988800" y="8492067"/>
            <a:ext cx="5310886" cy="486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Glass panel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11988800" y="9093200"/>
            <a:ext cx="567182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Lighter top, clearer base · blur 20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182813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ICONOGRAPHY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74800"/>
            <a:ext cx="17602200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ts val="5416"/>
              </a:lnSpc>
              <a:buNone/>
            </a:pPr>
            <a:r>
              <a:rPr lang="en-US" sz="5400" kern="0" spc="-216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Line icons. 24 grid, 1.5 stroke, square caps.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717800"/>
            <a:ext cx="10464800" cy="6654800"/>
          </a:xfrm>
          <a:prstGeom prst="roundRect">
            <a:avLst>
              <a:gd name="adj" fmla="val 3435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4575" y="3969808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0179" y="4788958"/>
            <a:ext cx="830659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Search</a:t>
            </a:r>
            <a:endParaRPr lang="en-US" sz="1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192" y="3969808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7442" y="4788958"/>
            <a:ext cx="138303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Encryption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1808" y="3969808"/>
            <a:ext cx="685800" cy="685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3222" y="4788958"/>
            <a:ext cx="57917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Data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0425" y="3969808"/>
            <a:ext cx="685800" cy="685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64675" y="4788958"/>
            <a:ext cx="138303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Geospatial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4575" y="7022042"/>
            <a:ext cx="685800" cy="685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17341" y="7841192"/>
            <a:ext cx="95633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Defence</a:t>
            </a:r>
            <a:endParaRPr lang="en-US" sz="16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3192" y="7022042"/>
            <a:ext cx="685800" cy="6858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33119" y="7841192"/>
            <a:ext cx="108214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Platform</a:t>
            </a:r>
            <a:endParaRPr lang="en-US" sz="16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1808" y="7022042"/>
            <a:ext cx="685800" cy="6858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048897" y="7841192"/>
            <a:ext cx="1207823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Analytics</a:t>
            </a:r>
            <a:endParaRPr lang="en-US" sz="16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0425" y="7022042"/>
            <a:ext cx="685800" cy="6858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716029" y="7841192"/>
            <a:ext cx="830659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Action</a:t>
            </a:r>
            <a:endParaRPr lang="en-US" sz="1650" dirty="0"/>
          </a:p>
        </p:txBody>
      </p:sp>
      <p:sp>
        <p:nvSpPr>
          <p:cNvPr id="23" name="Shape 13"/>
          <p:cNvSpPr/>
          <p:nvPr/>
        </p:nvSpPr>
        <p:spPr>
          <a:xfrm>
            <a:off x="11912600" y="2717800"/>
            <a:ext cx="5232400" cy="3175000"/>
          </a:xfrm>
          <a:prstGeom prst="roundRect">
            <a:avLst>
              <a:gd name="adj" fmla="val 7200"/>
            </a:avLst>
          </a:prstGeom>
          <a:solidFill>
            <a:srgbClr val="080B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76300" y="3962400"/>
            <a:ext cx="685800" cy="6858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4643100" y="3886200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33600" y="4076700"/>
            <a:ext cx="457200" cy="45720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11912600" y="6197600"/>
            <a:ext cx="5232400" cy="3175000"/>
          </a:xfrm>
          <a:prstGeom prst="roundRect">
            <a:avLst>
              <a:gd name="adj" fmla="val 7200"/>
            </a:avLst>
          </a:prstGeom>
          <a:solidFill>
            <a:srgbClr val="F4F8FC"/>
          </a:solidFill>
          <a:ln w="8467">
            <a:solidFill>
              <a:srgbClr val="080B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16"/>
          <p:cNvSpPr/>
          <p:nvPr/>
        </p:nvSpPr>
        <p:spPr>
          <a:xfrm>
            <a:off x="12225866" y="6510867"/>
            <a:ext cx="4762838" cy="2586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842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Navy on light, white on dark. Use a Blue 600 tile only for a single featured icon. No fills, no duotone.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914400"/>
            <a:ext cx="1143000" cy="6510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143000" y="7373409"/>
            <a:ext cx="133350" cy="1333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2"/>
          <p:cNvSpPr/>
          <p:nvPr/>
        </p:nvSpPr>
        <p:spPr>
          <a:xfrm>
            <a:off x="1409700" y="7241117"/>
            <a:ext cx="2392759" cy="436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38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SECTION 05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143000" y="7829550"/>
            <a:ext cx="17602200" cy="158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ts val="12150"/>
              </a:lnSpc>
              <a:buNone/>
            </a:pPr>
            <a:r>
              <a:rPr lang="en-US" sz="13500" kern="0" spc="-743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Imagery</a:t>
            </a:r>
            <a:endParaRPr lang="en-US" sz="13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6950"/>
            <a:ext cx="114300" cy="11430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377291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080B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IMAGERY · ONE TREATMENT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26442" y="914400"/>
            <a:ext cx="39475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74800"/>
            <a:ext cx="17602200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ts val="5416"/>
              </a:lnSpc>
              <a:buNone/>
            </a:pPr>
            <a:r>
              <a:rPr lang="en-US" sz="5400" kern="0" spc="-216" dirty="0">
                <a:solidFill>
                  <a:srgbClr val="080B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Real missions, cool light, navy scrim.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717800"/>
            <a:ext cx="5156200" cy="5263092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18415" r="18415"/>
          <a:stretch/>
        </p:blipFill>
        <p:spPr>
          <a:xfrm>
            <a:off x="1143000" y="2717800"/>
            <a:ext cx="5156200" cy="526309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17800"/>
            <a:ext cx="5156200" cy="52630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71600" y="7584017"/>
            <a:ext cx="95250" cy="952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1562100" y="7491942"/>
            <a:ext cx="119102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DEFENCE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143000" y="8133292"/>
            <a:ext cx="5310886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744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Platforms and people on mission. No staged stock poses.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6565900" y="2717800"/>
            <a:ext cx="5156200" cy="5263092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22446" r="22446"/>
          <a:stretch/>
        </p:blipFill>
        <p:spPr>
          <a:xfrm>
            <a:off x="6565900" y="2717800"/>
            <a:ext cx="5156200" cy="526309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00" y="2717800"/>
            <a:ext cx="5156200" cy="5263092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900" y="2717800"/>
            <a:ext cx="5156200" cy="526309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794500" y="7584017"/>
            <a:ext cx="95250" cy="952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0"/>
          <p:cNvSpPr/>
          <p:nvPr/>
        </p:nvSpPr>
        <p:spPr>
          <a:xfrm>
            <a:off x="6985000" y="7491942"/>
            <a:ext cx="87259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SPACE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6565900" y="8133292"/>
            <a:ext cx="5310886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744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Orbit and launch. Blue glow rises from the base.</a:t>
            </a:r>
            <a:endParaRPr lang="en-US" sz="1950" dirty="0"/>
          </a:p>
        </p:txBody>
      </p:sp>
      <p:sp>
        <p:nvSpPr>
          <p:cNvPr id="19" name="Shape 12"/>
          <p:cNvSpPr/>
          <p:nvPr/>
        </p:nvSpPr>
        <p:spPr>
          <a:xfrm>
            <a:off x="11988800" y="2717800"/>
            <a:ext cx="5156200" cy="5263092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l="17344" r="17344"/>
          <a:stretch/>
        </p:blipFill>
        <p:spPr>
          <a:xfrm>
            <a:off x="11988800" y="2717800"/>
            <a:ext cx="5156200" cy="5263092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8800" y="2717800"/>
            <a:ext cx="5156200" cy="5263092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12217400" y="7584017"/>
            <a:ext cx="95250" cy="95250"/>
          </a:xfrm>
          <a:prstGeom prst="rect">
            <a:avLst/>
          </a:prstGeom>
          <a:solidFill>
            <a:srgbClr val="2597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4"/>
          <p:cNvSpPr/>
          <p:nvPr/>
        </p:nvSpPr>
        <p:spPr>
          <a:xfrm>
            <a:off x="12407900" y="7491942"/>
            <a:ext cx="166886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ENTERPRISE</a:t>
            </a:r>
            <a:endParaRPr lang="en-US" sz="1650" dirty="0"/>
          </a:p>
        </p:txBody>
      </p:sp>
      <p:sp>
        <p:nvSpPr>
          <p:cNvPr id="24" name="Text 15"/>
          <p:cNvSpPr/>
          <p:nvPr/>
        </p:nvSpPr>
        <p:spPr>
          <a:xfrm>
            <a:off x="11988800" y="8133292"/>
            <a:ext cx="5310886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ts val="2744"/>
              </a:lnSpc>
              <a:buNone/>
            </a:pPr>
            <a:r>
              <a:rPr lang="en-US" sz="1950" dirty="0">
                <a:solidFill>
                  <a:srgbClr val="080B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and infrastructure. Cool, low-saturation tones.</a:t>
            </a:r>
            <a:endParaRPr lang="en-US" sz="1950" dirty="0"/>
          </a:p>
        </p:txBody>
      </p:sp>
      <p:sp>
        <p:nvSpPr>
          <p:cNvPr id="25" name="Text 16"/>
          <p:cNvSpPr/>
          <p:nvPr/>
        </p:nvSpPr>
        <p:spPr>
          <a:xfrm>
            <a:off x="1143000" y="9093200"/>
            <a:ext cx="17602200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A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SCRIM · #080B1A 40% → 0% at 30% → 90% · 180° · GLOW · #38B6FF 45% radial from base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3614605"/>
            <a:ext cx="4000500" cy="22787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67892" y="6350529"/>
            <a:ext cx="7867439" cy="3598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E6EC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BRAND QUESTIONS · MARKETING@CRAXEL.COM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7043DE36132D49BC0B5B8405E69B1F" ma:contentTypeVersion="11" ma:contentTypeDescription="Create a new document." ma:contentTypeScope="" ma:versionID="2fbdaa32c6dc51d527d0c7ba0e2df662">
  <xsd:schema xmlns:xsd="http://www.w3.org/2001/XMLSchema" xmlns:xs="http://www.w3.org/2001/XMLSchema" xmlns:p="http://schemas.microsoft.com/office/2006/metadata/properties" xmlns:ns2="3a017d41-54b2-4b6e-bc6a-50035da1b462" xmlns:ns3="1db7a55e-4a30-4f6e-9277-3ea029156800" targetNamespace="http://schemas.microsoft.com/office/2006/metadata/properties" ma:root="true" ma:fieldsID="b7ddec7de9ebb90cbce03595676e61be" ns2:_="" ns3:_="">
    <xsd:import namespace="3a017d41-54b2-4b6e-bc6a-50035da1b462"/>
    <xsd:import namespace="1db7a55e-4a30-4f6e-9277-3ea0291568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17d41-54b2-4b6e-bc6a-50035da1b4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dd74eb-90ba-4140-9805-19e822c50d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7a55e-4a30-4f6e-9277-3ea02915680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49ad752-801a-4d3e-825e-3f58680ecb84}" ma:internalName="TaxCatchAll" ma:showField="CatchAllData" ma:web="1db7a55e-4a30-4f6e-9277-3ea0291568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017d41-54b2-4b6e-bc6a-50035da1b462">
      <Terms xmlns="http://schemas.microsoft.com/office/infopath/2007/PartnerControls"/>
    </lcf76f155ced4ddcb4097134ff3c332f>
    <TaxCatchAll xmlns="1db7a55e-4a30-4f6e-9277-3ea02915680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1C375C-A283-413E-ABBE-7AE6F4E6EF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017d41-54b2-4b6e-bc6a-50035da1b462"/>
    <ds:schemaRef ds:uri="1db7a55e-4a30-4f6e-9277-3ea0291568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A20AB5-08A5-40DE-B13F-33E34DBF725F}">
  <ds:schemaRefs>
    <ds:schemaRef ds:uri="http://schemas.microsoft.com/office/2006/metadata/properties"/>
    <ds:schemaRef ds:uri="http://schemas.microsoft.com/office/infopath/2007/PartnerControls"/>
    <ds:schemaRef ds:uri="3a017d41-54b2-4b6e-bc6a-50035da1b462"/>
    <ds:schemaRef ds:uri="1db7a55e-4a30-4f6e-9277-3ea029156800"/>
  </ds:schemaRefs>
</ds:datastoreItem>
</file>

<file path=customXml/itemProps3.xml><?xml version="1.0" encoding="utf-8"?>
<ds:datastoreItem xmlns:ds="http://schemas.openxmlformats.org/officeDocument/2006/customXml" ds:itemID="{77867AEA-731E-449A-BC59-C06DADEDF7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Custom</PresentationFormat>
  <Paragraphs>307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Lauren Farrall</cp:lastModifiedBy>
  <cp:revision>2</cp:revision>
  <dcterms:created xsi:type="dcterms:W3CDTF">2026-09-29T13:59:06Z</dcterms:created>
  <dcterms:modified xsi:type="dcterms:W3CDTF">2026-10-01T10:11:36Z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0x010100B97043DE36132D49BC0B5B8405E69B1F</vt:lpwstr>
  </property>
  <property fmtid="{D5CDD505-2E9C-101B-9397-08002B2CF9AE}" pid="3" name="MediaServiceImageTags">
    <vt:lpwstr/>
  </property>
</Properties>
</file>